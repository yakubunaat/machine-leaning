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9" r:id="rId5"/>
    <p:sldId id="258" r:id="rId6"/>
    <p:sldId id="259" r:id="rId7"/>
    <p:sldId id="260" r:id="rId8"/>
    <p:sldId id="261" r:id="rId9"/>
    <p:sldId id="270" r:id="rId10"/>
    <p:sldId id="262" r:id="rId11"/>
    <p:sldId id="263" r:id="rId12"/>
    <p:sldId id="271" r:id="rId13"/>
    <p:sldId id="281" r:id="rId14"/>
    <p:sldId id="264" r:id="rId15"/>
    <p:sldId id="272" r:id="rId16"/>
    <p:sldId id="273" r:id="rId17"/>
    <p:sldId id="274" r:id="rId18"/>
    <p:sldId id="275" r:id="rId19"/>
    <p:sldId id="265" r:id="rId20"/>
    <p:sldId id="266" r:id="rId21"/>
    <p:sldId id="279" r:id="rId22"/>
    <p:sldId id="267" r:id="rId23"/>
    <p:sldId id="277" r:id="rId24"/>
    <p:sldId id="276"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310323"/>
            <a:ext cx="9144000" cy="2387600"/>
          </a:xfrm>
        </p:spPr>
        <p:txBody>
          <a:bodyPr>
            <a:normAutofit fontScale="90000"/>
          </a:bodyPr>
          <a:p>
            <a:r>
              <a:rPr lang="en-US"/>
              <a:t>Machine Learning for chemical and Engineering Sciences</a:t>
            </a:r>
            <a:endParaRPr lang="en-US"/>
          </a:p>
        </p:txBody>
      </p:sp>
      <p:sp>
        <p:nvSpPr>
          <p:cNvPr id="3" name="Subtitle 2"/>
          <p:cNvSpPr>
            <a:spLocks noGrp="1"/>
          </p:cNvSpPr>
          <p:nvPr>
            <p:ph type="subTitle" idx="1"/>
          </p:nvPr>
        </p:nvSpPr>
        <p:spPr>
          <a:xfrm>
            <a:off x="1524000" y="3711258"/>
            <a:ext cx="9144000" cy="1655762"/>
          </a:xfrm>
        </p:spPr>
        <p:txBody>
          <a:bodyPr/>
          <a:p>
            <a:r>
              <a:rPr lang="en-US"/>
              <a:t>Department of chemistry, KNUST</a:t>
            </a:r>
            <a:endParaRPr lang="en-US"/>
          </a:p>
        </p:txBody>
      </p:sp>
      <p:grpSp>
        <p:nvGrpSpPr>
          <p:cNvPr id="5" name="Group 4"/>
          <p:cNvGrpSpPr/>
          <p:nvPr/>
        </p:nvGrpSpPr>
        <p:grpSpPr>
          <a:xfrm>
            <a:off x="370205" y="294640"/>
            <a:ext cx="11555095" cy="1132840"/>
            <a:chOff x="583" y="464"/>
            <a:chExt cx="18197" cy="1784"/>
          </a:xfrm>
        </p:grpSpPr>
        <p:pic>
          <p:nvPicPr>
            <p:cNvPr id="6" name="Picture 5" descr="untitled-1_245"/>
            <p:cNvPicPr>
              <a:picLocks noChangeAspect="1"/>
            </p:cNvPicPr>
            <p:nvPr/>
          </p:nvPicPr>
          <p:blipFill>
            <a:blip r:embed="rId1"/>
            <a:stretch>
              <a:fillRect/>
            </a:stretch>
          </p:blipFill>
          <p:spPr>
            <a:xfrm>
              <a:off x="583" y="464"/>
              <a:ext cx="1893" cy="1785"/>
            </a:xfrm>
            <a:prstGeom prst="rect">
              <a:avLst/>
            </a:prstGeom>
          </p:spPr>
        </p:pic>
        <p:sp>
          <p:nvSpPr>
            <p:cNvPr id="7" name="Rounded Rectangle 6"/>
            <p:cNvSpPr/>
            <p:nvPr/>
          </p:nvSpPr>
          <p:spPr>
            <a:xfrm>
              <a:off x="2475" y="1156"/>
              <a:ext cx="14399" cy="585"/>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r"/>
              <a:r>
                <a:rPr lang="en-US" sz="1400">
                  <a:solidFill>
                    <a:schemeClr val="tx2"/>
                  </a:solidFill>
                </a:rPr>
                <a:t>Computational Chemistry Lab - Department of Chemistry -KNUST</a:t>
              </a:r>
              <a:endParaRPr lang="en-US" sz="1400">
                <a:solidFill>
                  <a:schemeClr val="tx2"/>
                </a:solidFill>
              </a:endParaRPr>
            </a:p>
          </p:txBody>
        </p:sp>
        <p:pic>
          <p:nvPicPr>
            <p:cNvPr id="8" name="Picture 7" descr="IMG_2980"/>
            <p:cNvPicPr>
              <a:picLocks noChangeAspect="1"/>
            </p:cNvPicPr>
            <p:nvPr/>
          </p:nvPicPr>
          <p:blipFill>
            <a:blip r:embed="rId2"/>
            <a:stretch>
              <a:fillRect/>
            </a:stretch>
          </p:blipFill>
          <p:spPr>
            <a:xfrm>
              <a:off x="17180" y="464"/>
              <a:ext cx="1600" cy="16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What is Machine Learning?</a:t>
            </a:r>
            <a:endParaRPr lang="en-US"/>
          </a:p>
        </p:txBody>
      </p:sp>
      <p:sp>
        <p:nvSpPr>
          <p:cNvPr id="4" name="Content Placeholder 3"/>
          <p:cNvSpPr>
            <a:spLocks noGrp="1"/>
          </p:cNvSpPr>
          <p:nvPr>
            <p:ph sz="half" idx="1"/>
          </p:nvPr>
        </p:nvSpPr>
        <p:spPr/>
        <p:txBody>
          <a:bodyPr/>
          <a:p>
            <a:r>
              <a:rPr lang="en-US" altLang="en-US"/>
              <a:t>Machine learning is a subfield of artificial intelligence that uses algorithms trained on data sets to create models capable of performing tasks that would otherwise only be possible for humans, such as categorizing images, analyzing data, or predicting price fluctuations. </a:t>
            </a:r>
            <a:endParaRPr lang="en-US" altLang="en-US"/>
          </a:p>
        </p:txBody>
      </p:sp>
      <p:pic>
        <p:nvPicPr>
          <p:cNvPr id="9" name="Content Placeholder 8" descr="IMG_7801"/>
          <p:cNvPicPr>
            <a:picLocks noChangeAspect="1"/>
          </p:cNvPicPr>
          <p:nvPr>
            <p:ph sz="half" idx="2"/>
          </p:nvPr>
        </p:nvPicPr>
        <p:blipFill>
          <a:blip r:embed="rId1"/>
          <a:stretch>
            <a:fillRect/>
          </a:stretch>
        </p:blipFill>
        <p:spPr>
          <a:xfrm>
            <a:off x="6586855" y="1825625"/>
            <a:ext cx="4351655" cy="4351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machine learning?</a:t>
            </a:r>
            <a:endParaRPr lang="en-US"/>
          </a:p>
        </p:txBody>
      </p:sp>
      <p:sp>
        <p:nvSpPr>
          <p:cNvPr id="3" name="Content Placeholder 2"/>
          <p:cNvSpPr>
            <a:spLocks noGrp="1"/>
          </p:cNvSpPr>
          <p:nvPr>
            <p:ph sz="half" idx="1"/>
          </p:nvPr>
        </p:nvSpPr>
        <p:spPr/>
        <p:txBody>
          <a:bodyPr/>
          <a:p>
            <a:endParaRPr lang="en-US"/>
          </a:p>
        </p:txBody>
      </p:sp>
      <p:sp>
        <p:nvSpPr>
          <p:cNvPr id="4" name="Content Placeholder 3"/>
          <p:cNvSpPr>
            <a:spLocks noGrp="1"/>
          </p:cNvSpPr>
          <p:nvPr>
            <p:ph sz="half" idx="2"/>
          </p:nvPr>
        </p:nvSpPr>
        <p:spPr/>
        <p:txBody>
          <a:bodyPr/>
          <a:p>
            <a:endParaRPr lang="en-US"/>
          </a:p>
        </p:txBody>
      </p:sp>
      <p:pic>
        <p:nvPicPr>
          <p:cNvPr id="5" name="Picture 4" descr="06-Machine-Learning-for-Chemical-Sciences-6-2048.jpg"/>
          <p:cNvPicPr>
            <a:picLocks noChangeAspect="1"/>
          </p:cNvPicPr>
          <p:nvPr/>
        </p:nvPicPr>
        <p:blipFill>
          <a:blip r:embed="rId1"/>
          <a:srcRect t="16546"/>
          <a:stretch>
            <a:fillRect/>
          </a:stretch>
        </p:blipFill>
        <p:spPr>
          <a:xfrm>
            <a:off x="838200" y="1691005"/>
            <a:ext cx="10608945" cy="5012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do machines learn?</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113" name="Picture 17"/>
          <p:cNvSpPr/>
          <p:nvPr/>
        </p:nvSpPr>
        <p:spPr>
          <a:xfrm>
            <a:off x="5298135" y="3623844"/>
            <a:ext cx="1286159" cy="1086446"/>
          </a:xfrm>
          <a:prstGeom prst="ellipse">
            <a:avLst/>
          </a:prstGeom>
          <a:blipFill rotWithShape="0">
            <a:blip r:embed="rId1"/>
            <a:srcRect/>
            <a:stretch>
              <a:fillRect/>
            </a:stretch>
          </a:blipFill>
          <a:ln w="0">
            <a:noFill/>
          </a:ln>
          <a:effectLst>
            <a:glow rad="469900">
              <a:schemeClr val="accent5">
                <a:satMod val="175000"/>
                <a:alpha val="48000"/>
              </a:schemeClr>
            </a:glow>
            <a:outerShdw blurRad="50800" dist="38100" dir="8100000" sx="104000" sy="104000" algn="tr" rotWithShape="0">
              <a:prstClr val="black">
                <a:alpha val="42000"/>
              </a:prst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200" b="0" strike="noStrike" spc="-1">
              <a:solidFill>
                <a:srgbClr val="000000"/>
              </a:solidFill>
              <a:latin typeface="Times New Roman Regular" panose="02020803070505020304" charset="0"/>
              <a:cs typeface="Times New Roman Regular" panose="02020803070505020304" charset="0"/>
            </a:endParaRPr>
          </a:p>
        </p:txBody>
      </p:sp>
      <p:sp>
        <p:nvSpPr>
          <p:cNvPr id="4" name="Rounded Rectangle 3"/>
          <p:cNvSpPr/>
          <p:nvPr/>
        </p:nvSpPr>
        <p:spPr>
          <a:xfrm>
            <a:off x="4782185" y="1694815"/>
            <a:ext cx="2126615" cy="855345"/>
          </a:xfrm>
          <a:prstGeom prst="roundRect">
            <a:avLst/>
          </a:prstGeom>
          <a:solidFill>
            <a:schemeClr val="accent1">
              <a:lumMod val="40000"/>
              <a:lumOff val="60000"/>
            </a:schemeClr>
          </a:solidFill>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solidFill>
                  <a:schemeClr val="tx1"/>
                </a:solidFill>
              </a:rPr>
              <a:t>Data storage</a:t>
            </a:r>
            <a:endParaRPr lang="en-US" b="1">
              <a:solidFill>
                <a:schemeClr val="tx1"/>
              </a:solidFill>
            </a:endParaRPr>
          </a:p>
          <a:p>
            <a:pPr algn="ctr"/>
            <a:r>
              <a:rPr lang="en-US" b="1">
                <a:solidFill>
                  <a:schemeClr val="tx1"/>
                </a:solidFill>
              </a:rPr>
              <a:t>(Inputs)</a:t>
            </a:r>
            <a:endParaRPr lang="en-US" b="1">
              <a:solidFill>
                <a:schemeClr val="tx1"/>
              </a:solidFill>
            </a:endParaRPr>
          </a:p>
        </p:txBody>
      </p:sp>
      <p:sp>
        <p:nvSpPr>
          <p:cNvPr id="5" name="Rounded Rectangle 4"/>
          <p:cNvSpPr/>
          <p:nvPr/>
        </p:nvSpPr>
        <p:spPr>
          <a:xfrm>
            <a:off x="4781550" y="5718175"/>
            <a:ext cx="2373630" cy="855345"/>
          </a:xfrm>
          <a:prstGeom prst="roundRect">
            <a:avLst/>
          </a:prstGeom>
          <a:solidFill>
            <a:schemeClr val="accent1">
              <a:lumMod val="60000"/>
              <a:lumOff val="40000"/>
            </a:schemeClr>
          </a:solidFill>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solidFill>
                  <a:schemeClr val="tx1"/>
                </a:solidFill>
              </a:rPr>
              <a:t>Training</a:t>
            </a:r>
            <a:endParaRPr lang="en-US" b="1">
              <a:solidFill>
                <a:schemeClr val="tx1"/>
              </a:solidFill>
            </a:endParaRPr>
          </a:p>
          <a:p>
            <a:pPr algn="ctr"/>
            <a:r>
              <a:rPr lang="en-US" b="1">
                <a:solidFill>
                  <a:schemeClr val="tx1"/>
                </a:solidFill>
              </a:rPr>
              <a:t>(learning, analysis)</a:t>
            </a:r>
            <a:endParaRPr lang="en-US" b="1">
              <a:solidFill>
                <a:schemeClr val="tx1"/>
              </a:solidFill>
            </a:endParaRPr>
          </a:p>
        </p:txBody>
      </p:sp>
      <p:sp>
        <p:nvSpPr>
          <p:cNvPr id="6" name="Rounded Rectangle 5"/>
          <p:cNvSpPr/>
          <p:nvPr/>
        </p:nvSpPr>
        <p:spPr>
          <a:xfrm>
            <a:off x="7954645" y="3429000"/>
            <a:ext cx="2498090" cy="855345"/>
          </a:xfrm>
          <a:prstGeom prst="roundRect">
            <a:avLst/>
          </a:prstGeom>
          <a:solidFill>
            <a:schemeClr val="accent1">
              <a:lumMod val="60000"/>
              <a:lumOff val="40000"/>
            </a:schemeClr>
          </a:solidFill>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solidFill>
                  <a:schemeClr val="tx1"/>
                </a:solidFill>
              </a:rPr>
              <a:t>Feedback</a:t>
            </a:r>
            <a:endParaRPr lang="en-US" b="1">
              <a:solidFill>
                <a:schemeClr val="tx1"/>
              </a:solidFill>
            </a:endParaRPr>
          </a:p>
          <a:p>
            <a:pPr algn="ctr"/>
            <a:r>
              <a:rPr lang="en-US" b="1">
                <a:solidFill>
                  <a:schemeClr val="tx1"/>
                </a:solidFill>
              </a:rPr>
              <a:t>(Test and Improve)</a:t>
            </a:r>
            <a:endParaRPr lang="en-US" b="1">
              <a:solidFill>
                <a:schemeClr val="tx1"/>
              </a:solidFill>
            </a:endParaRPr>
          </a:p>
        </p:txBody>
      </p:sp>
      <p:sp>
        <p:nvSpPr>
          <p:cNvPr id="7" name="Rounded Rectangle 6"/>
          <p:cNvSpPr/>
          <p:nvPr/>
        </p:nvSpPr>
        <p:spPr>
          <a:xfrm>
            <a:off x="1448435" y="3429000"/>
            <a:ext cx="2343785" cy="855345"/>
          </a:xfrm>
          <a:prstGeom prst="roundRect">
            <a:avLst/>
          </a:prstGeom>
          <a:solidFill>
            <a:schemeClr val="accent1">
              <a:lumMod val="60000"/>
              <a:lumOff val="40000"/>
            </a:schemeClr>
          </a:solidFill>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solidFill>
                  <a:schemeClr val="tx1"/>
                </a:solidFill>
              </a:rPr>
              <a:t>Brain type</a:t>
            </a:r>
            <a:endParaRPr lang="en-US" b="1">
              <a:solidFill>
                <a:schemeClr val="tx1"/>
              </a:solidFill>
            </a:endParaRPr>
          </a:p>
          <a:p>
            <a:pPr algn="ctr"/>
            <a:r>
              <a:rPr lang="en-US" b="1">
                <a:solidFill>
                  <a:schemeClr val="tx1"/>
                </a:solidFill>
              </a:rPr>
              <a:t>(Model selection)</a:t>
            </a:r>
            <a:endParaRPr lang="en-US" b="1">
              <a:solidFill>
                <a:schemeClr val="tx1"/>
              </a:solidFill>
            </a:endParaRPr>
          </a:p>
        </p:txBody>
      </p:sp>
      <p:sp>
        <p:nvSpPr>
          <p:cNvPr id="8" name="Up Arrow 7"/>
          <p:cNvSpPr/>
          <p:nvPr/>
        </p:nvSpPr>
        <p:spPr>
          <a:xfrm>
            <a:off x="5621020" y="2705100"/>
            <a:ext cx="513080" cy="62230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ight Arrow 8"/>
          <p:cNvSpPr/>
          <p:nvPr/>
        </p:nvSpPr>
        <p:spPr>
          <a:xfrm>
            <a:off x="6959600" y="3747135"/>
            <a:ext cx="821690" cy="4356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Left Arrow 9"/>
          <p:cNvSpPr/>
          <p:nvPr/>
        </p:nvSpPr>
        <p:spPr>
          <a:xfrm>
            <a:off x="4025900" y="3747135"/>
            <a:ext cx="821055" cy="435610"/>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Down Arrow 10"/>
          <p:cNvSpPr/>
          <p:nvPr/>
        </p:nvSpPr>
        <p:spPr>
          <a:xfrm>
            <a:off x="5621655" y="4991735"/>
            <a:ext cx="512445" cy="6216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Main types of machine learning</a:t>
            </a:r>
            <a:endParaRPr lang="en-US"/>
          </a:p>
        </p:txBody>
      </p:sp>
      <p:pic>
        <p:nvPicPr>
          <p:cNvPr id="4" name="Content Placeholder 3" descr="fullsizeoutput_27"/>
          <p:cNvPicPr>
            <a:picLocks noChangeAspect="1"/>
          </p:cNvPicPr>
          <p:nvPr>
            <p:ph idx="1"/>
          </p:nvPr>
        </p:nvPicPr>
        <p:blipFill>
          <a:blip r:embed="rId1"/>
          <a:stretch>
            <a:fillRect/>
          </a:stretch>
        </p:blipFill>
        <p:spPr>
          <a:xfrm>
            <a:off x="424815" y="1591310"/>
            <a:ext cx="11090275" cy="5081270"/>
          </a:xfrm>
          <a:prstGeom prst="rect">
            <a:avLst/>
          </a:prstGeom>
        </p:spPr>
      </p:pic>
      <p:sp>
        <p:nvSpPr>
          <p:cNvPr id="5" name="Text Box 4"/>
          <p:cNvSpPr txBox="1"/>
          <p:nvPr/>
        </p:nvSpPr>
        <p:spPr>
          <a:xfrm>
            <a:off x="2494280" y="3731895"/>
            <a:ext cx="1420495" cy="399415"/>
          </a:xfrm>
          <a:prstGeom prst="rect">
            <a:avLst/>
          </a:prstGeom>
          <a:noFill/>
        </p:spPr>
        <p:txBody>
          <a:bodyPr wrap="square" rtlCol="0">
            <a:noAutofit/>
          </a:bodyPr>
          <a:p>
            <a:r>
              <a:rPr lang="en-US"/>
              <a:t>Mapping</a:t>
            </a:r>
            <a:endParaRPr lang="en-US"/>
          </a:p>
        </p:txBody>
      </p:sp>
      <p:sp>
        <p:nvSpPr>
          <p:cNvPr id="6" name="Text Box 5"/>
          <p:cNvSpPr txBox="1"/>
          <p:nvPr/>
        </p:nvSpPr>
        <p:spPr>
          <a:xfrm>
            <a:off x="5385435" y="3731895"/>
            <a:ext cx="1420495" cy="399415"/>
          </a:xfrm>
          <a:prstGeom prst="rect">
            <a:avLst/>
          </a:prstGeom>
          <a:noFill/>
        </p:spPr>
        <p:txBody>
          <a:bodyPr wrap="square" rtlCol="0">
            <a:noAutofit/>
          </a:bodyPr>
          <a:p>
            <a:r>
              <a:rPr lang="en-US"/>
              <a:t>Classes</a:t>
            </a:r>
            <a:endParaRPr lang="en-US"/>
          </a:p>
        </p:txBody>
      </p:sp>
      <p:sp>
        <p:nvSpPr>
          <p:cNvPr id="7" name="Text Box 6"/>
          <p:cNvSpPr txBox="1"/>
          <p:nvPr/>
        </p:nvSpPr>
        <p:spPr>
          <a:xfrm>
            <a:off x="8531225" y="3838575"/>
            <a:ext cx="1420495" cy="399415"/>
          </a:xfrm>
          <a:prstGeom prst="rect">
            <a:avLst/>
          </a:prstGeom>
          <a:noFill/>
        </p:spPr>
        <p:txBody>
          <a:bodyPr wrap="square" rtlCol="0">
            <a:noAutofit/>
          </a:bodyPr>
          <a:p>
            <a:r>
              <a:rPr lang="en-US"/>
              <a:t>Action</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Why ML is relevant in Chemistry?</a:t>
            </a:r>
            <a:endParaRPr lang="en-US"/>
          </a:p>
        </p:txBody>
      </p:sp>
      <p:sp>
        <p:nvSpPr>
          <p:cNvPr id="3" name="Content Placeholder 2"/>
          <p:cNvSpPr>
            <a:spLocks noGrp="1"/>
          </p:cNvSpPr>
          <p:nvPr>
            <p:ph idx="1"/>
          </p:nvPr>
        </p:nvSpPr>
        <p:spPr>
          <a:xfrm>
            <a:off x="698500" y="1520190"/>
            <a:ext cx="10763250" cy="4657090"/>
          </a:xfrm>
        </p:spPr>
        <p:txBody>
          <a:bodyPr/>
          <a:p>
            <a:pPr>
              <a:buFont typeface="Wingdings" panose="05000000000000000000" charset="0"/>
              <a:buChar char=""/>
            </a:pPr>
            <a:r>
              <a:rPr lang="en-US"/>
              <a:t> Faster drug screening</a:t>
            </a:r>
            <a:endParaRPr lang="en-US"/>
          </a:p>
          <a:p>
            <a:pPr>
              <a:buFont typeface="Wingdings" panose="05000000000000000000" charset="0"/>
              <a:buChar char=""/>
            </a:pPr>
            <a:r>
              <a:rPr lang="en-US"/>
              <a:t> Aids in material design</a:t>
            </a:r>
            <a:endParaRPr lang="en-US"/>
          </a:p>
          <a:p>
            <a:pPr>
              <a:buFont typeface="Wingdings" panose="05000000000000000000" charset="0"/>
              <a:buChar char=""/>
            </a:pPr>
            <a:r>
              <a:rPr lang="en-US"/>
              <a:t> Data driven insights</a:t>
            </a:r>
            <a:endParaRPr lang="en-US"/>
          </a:p>
          <a:p>
            <a:pPr>
              <a:buFont typeface="Wingdings" panose="05000000000000000000" charset="0"/>
              <a:buChar char=""/>
            </a:pPr>
            <a:r>
              <a:rPr lang="en-US"/>
              <a:t> Enhance computational chemistry</a:t>
            </a:r>
            <a:endParaRPr lang="en-US"/>
          </a:p>
          <a:p>
            <a:pPr>
              <a:buFont typeface="Wingdings" panose="05000000000000000000" charset="0"/>
              <a:buChar char=""/>
            </a:pPr>
            <a:r>
              <a:rPr lang="en-US"/>
              <a:t> Automated labs</a:t>
            </a:r>
            <a:endParaRPr lang="en-US"/>
          </a:p>
          <a:p>
            <a:pPr>
              <a:buFont typeface="Wingdings" panose="05000000000000000000" charset="0"/>
              <a:buChar char=""/>
            </a:pPr>
            <a:r>
              <a:rPr lang="en-US"/>
              <a:t> Reaction prediction and automated synthesis</a:t>
            </a:r>
            <a:endParaRPr lang="en-US"/>
          </a:p>
          <a:p>
            <a:pPr>
              <a:buFont typeface="Wingdings" panose="05000000000000000000" charset="0"/>
              <a:buChar char=""/>
            </a:pPr>
            <a:endParaRPr lang="en-US"/>
          </a:p>
          <a:p>
            <a:pPr>
              <a:buFont typeface="Wingdings" panose="05000000000000000000" charset="0"/>
              <a:buChar char=""/>
            </a:pPr>
            <a:endParaRPr lang="en-US"/>
          </a:p>
        </p:txBody>
      </p:sp>
      <p:pic>
        <p:nvPicPr>
          <p:cNvPr id="25" name="Picture 24"/>
          <p:cNvPicPr/>
          <p:nvPr/>
        </p:nvPicPr>
        <p:blipFill>
          <a:blip r:embed="rId1"/>
          <a:srcRect/>
          <a:stretch>
            <a:fillRect/>
          </a:stretch>
        </p:blipFill>
        <p:spPr>
          <a:xfrm>
            <a:off x="7694930" y="1520190"/>
            <a:ext cx="3658870" cy="2372995"/>
          </a:xfrm>
          <a:prstGeom prst="rect">
            <a:avLst/>
          </a:prstGeom>
          <a:ln>
            <a:solidFill>
              <a:schemeClr val="tx1"/>
            </a:solidFill>
          </a:ln>
          <a:effectLst>
            <a:glow rad="63500">
              <a:schemeClr val="accent1">
                <a:satMod val="175000"/>
                <a:alpha val="40000"/>
              </a:schemeClr>
            </a:glow>
            <a:softEdge rad="31750"/>
          </a:effectLst>
        </p:spPr>
      </p:pic>
      <p:sp>
        <p:nvSpPr>
          <p:cNvPr id="6" name="Smiley Face 5"/>
          <p:cNvSpPr/>
          <p:nvPr/>
        </p:nvSpPr>
        <p:spPr>
          <a:xfrm>
            <a:off x="3925570" y="5180965"/>
            <a:ext cx="1149350" cy="1085850"/>
          </a:xfrm>
          <a:prstGeom prst="smileyFace">
            <a:avLst/>
          </a:prstGeom>
          <a:solidFill>
            <a:schemeClr val="accent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5387340" y="5539740"/>
            <a:ext cx="4064000" cy="521970"/>
          </a:xfrm>
          <a:prstGeom prst="rect">
            <a:avLst/>
          </a:prstGeom>
          <a:noFill/>
        </p:spPr>
        <p:txBody>
          <a:bodyPr wrap="square" rtlCol="0">
            <a:spAutoFit/>
          </a:bodyPr>
          <a:p>
            <a:r>
              <a:rPr lang="en-US" sz="2800" b="1">
                <a:latin typeface="Times New Roman Bold" panose="02020803070505020304" charset="0"/>
                <a:cs typeface="Times New Roman Bold" panose="02020803070505020304" charset="0"/>
              </a:rPr>
              <a:t>Faster and Cheaper</a:t>
            </a:r>
            <a:endParaRPr lang="en-US" sz="2800" b="1">
              <a:latin typeface="Times New Roman Bold" panose="02020803070505020304" charset="0"/>
              <a:cs typeface="Times New Roman Bold" panose="020208030705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representation</a:t>
            </a:r>
            <a:endParaRPr lang="en-US"/>
          </a:p>
        </p:txBody>
      </p:sp>
      <p:sp>
        <p:nvSpPr>
          <p:cNvPr id="3" name="Content Placeholder 2"/>
          <p:cNvSpPr>
            <a:spLocks noGrp="1"/>
          </p:cNvSpPr>
          <p:nvPr>
            <p:ph idx="1"/>
          </p:nvPr>
        </p:nvSpPr>
        <p:spPr/>
        <p:txBody>
          <a:bodyPr/>
          <a:p>
            <a:pPr>
              <a:buFont typeface="Wingdings" panose="05000000000000000000" charset="0"/>
              <a:buChar char=""/>
            </a:pPr>
            <a:r>
              <a:rPr lang="en-US"/>
              <a:t> Machines do not learn with chemical structures or names:</a:t>
            </a:r>
            <a:endParaRPr lang="en-US"/>
          </a:p>
          <a:p>
            <a:pPr>
              <a:buFont typeface="Wingdings" panose="05000000000000000000" charset="0"/>
              <a:buChar char=""/>
            </a:pPr>
            <a:endParaRPr lang="en-US"/>
          </a:p>
        </p:txBody>
      </p:sp>
      <p:pic>
        <p:nvPicPr>
          <p:cNvPr id="5" name="Picture 4" descr="fullsizeoutput_28"/>
          <p:cNvPicPr>
            <a:picLocks noChangeAspect="1"/>
          </p:cNvPicPr>
          <p:nvPr/>
        </p:nvPicPr>
        <p:blipFill>
          <a:blip r:embed="rId1"/>
          <a:stretch>
            <a:fillRect/>
          </a:stretch>
        </p:blipFill>
        <p:spPr>
          <a:xfrm>
            <a:off x="701040" y="2687955"/>
            <a:ext cx="3935095" cy="3549650"/>
          </a:xfrm>
          <a:prstGeom prst="rect">
            <a:avLst/>
          </a:prstGeom>
        </p:spPr>
      </p:pic>
      <p:pic>
        <p:nvPicPr>
          <p:cNvPr id="6" name="Picture 5" descr="fullsizeoutput_29"/>
          <p:cNvPicPr>
            <a:picLocks noChangeAspect="1"/>
          </p:cNvPicPr>
          <p:nvPr/>
        </p:nvPicPr>
        <p:blipFill>
          <a:blip r:embed="rId2"/>
          <a:stretch>
            <a:fillRect/>
          </a:stretch>
        </p:blipFill>
        <p:spPr>
          <a:xfrm>
            <a:off x="4783455" y="2870835"/>
            <a:ext cx="3740150" cy="3306445"/>
          </a:xfrm>
          <a:prstGeom prst="rect">
            <a:avLst/>
          </a:prstGeom>
        </p:spPr>
      </p:pic>
      <p:pic>
        <p:nvPicPr>
          <p:cNvPr id="7" name="Picture 6" descr="fullsizeoutput_2b"/>
          <p:cNvPicPr>
            <a:picLocks noChangeAspect="1"/>
          </p:cNvPicPr>
          <p:nvPr/>
        </p:nvPicPr>
        <p:blipFill>
          <a:blip r:embed="rId3"/>
          <a:stretch>
            <a:fillRect/>
          </a:stretch>
        </p:blipFill>
        <p:spPr>
          <a:xfrm>
            <a:off x="8523605" y="2869565"/>
            <a:ext cx="3592830" cy="33064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representation</a:t>
            </a:r>
            <a:endParaRPr lang="en-US"/>
          </a:p>
        </p:txBody>
      </p:sp>
      <p:sp>
        <p:nvSpPr>
          <p:cNvPr id="3" name="Content Placeholder 2"/>
          <p:cNvSpPr>
            <a:spLocks noGrp="1"/>
          </p:cNvSpPr>
          <p:nvPr>
            <p:ph idx="1"/>
          </p:nvPr>
        </p:nvSpPr>
        <p:spPr>
          <a:xfrm>
            <a:off x="838200" y="1691640"/>
            <a:ext cx="10515600" cy="4485640"/>
          </a:xfrm>
        </p:spPr>
        <p:txBody>
          <a:bodyPr/>
          <a:p>
            <a:pPr>
              <a:buFont typeface="Wingdings" panose="05000000000000000000" charset="0"/>
              <a:buChar char=""/>
            </a:pPr>
            <a:r>
              <a:rPr lang="en-US"/>
              <a:t> The machines only understands numbers, so data must be encoded from chemical space into numbers</a:t>
            </a:r>
            <a:endParaRPr lang="en-US"/>
          </a:p>
          <a:p>
            <a:pPr>
              <a:buFont typeface="Wingdings" panose="05000000000000000000" charset="0"/>
              <a:buChar char=""/>
            </a:pPr>
            <a:r>
              <a:rPr lang="en-US"/>
              <a:t> The process of converting chemical structures to descriptors is termed “Featurization”</a:t>
            </a:r>
            <a:endParaRPr lang="en-US"/>
          </a:p>
          <a:p>
            <a:pPr>
              <a:buFont typeface="Wingdings" panose="05000000000000000000" charset="0"/>
              <a:buChar char=""/>
            </a:pPr>
            <a:r>
              <a:rPr lang="en-US"/>
              <a:t> In chemical sciences, moleculer data is often represented in the following formats:</a:t>
            </a:r>
            <a:endParaRPr lang="en-US"/>
          </a:p>
          <a:p>
            <a:pPr marL="0" indent="0">
              <a:buNone/>
            </a:pPr>
            <a:endParaRPr lang="en-US"/>
          </a:p>
        </p:txBody>
      </p:sp>
      <p:sp>
        <p:nvSpPr>
          <p:cNvPr id="4" name="Text Box 3"/>
          <p:cNvSpPr txBox="1"/>
          <p:nvPr/>
        </p:nvSpPr>
        <p:spPr>
          <a:xfrm>
            <a:off x="3429000" y="4681220"/>
            <a:ext cx="4389755" cy="1819910"/>
          </a:xfrm>
          <a:prstGeom prst="rect">
            <a:avLst/>
          </a:prstGeom>
          <a:noFill/>
        </p:spPr>
        <p:txBody>
          <a:bodyPr wrap="square" rtlCol="0">
            <a:noAutofit/>
          </a:bodyPr>
          <a:p>
            <a:pPr marL="285750" indent="-285750">
              <a:buFont typeface="Wingdings" panose="05000000000000000000" charset="0"/>
              <a:buChar char=""/>
            </a:pPr>
            <a:r>
              <a:rPr lang="en-US" sz="2000"/>
              <a:t>SMILES</a:t>
            </a:r>
            <a:endParaRPr lang="en-US" sz="2000"/>
          </a:p>
          <a:p>
            <a:pPr marL="285750" indent="-285750">
              <a:buFont typeface="Wingdings" panose="05000000000000000000" charset="0"/>
              <a:buChar char=""/>
            </a:pPr>
            <a:r>
              <a:rPr lang="en-US" sz="2000"/>
              <a:t>CIF</a:t>
            </a:r>
            <a:endParaRPr lang="en-US" sz="2000"/>
          </a:p>
          <a:p>
            <a:pPr marL="285750" indent="-285750">
              <a:buFont typeface="Wingdings" panose="05000000000000000000" charset="0"/>
              <a:buChar char=""/>
            </a:pPr>
            <a:r>
              <a:rPr lang="en-US" sz="2000"/>
              <a:t>.out Files </a:t>
            </a:r>
            <a:endParaRPr lang="en-US" sz="2000"/>
          </a:p>
          <a:p>
            <a:pPr marL="285750" indent="-285750">
              <a:buFont typeface="Wingdings" panose="05000000000000000000" charset="0"/>
              <a:buChar char=""/>
            </a:pPr>
            <a:r>
              <a:rPr lang="en-US" sz="2000"/>
              <a:t> XYZ files</a:t>
            </a:r>
            <a:endParaRPr lang="en-US" sz="2000"/>
          </a:p>
          <a:p>
            <a:pPr marL="285750" indent="-285750">
              <a:buFont typeface="Wingdings" panose="05000000000000000000" charset="0"/>
              <a:buChar char=""/>
            </a:pPr>
            <a:r>
              <a:rPr lang="en-US" sz="2000"/>
              <a:t>InChI</a:t>
            </a:r>
            <a:endParaRPr lang="en-US" sz="2000"/>
          </a:p>
        </p:txBody>
      </p:sp>
      <p:sp>
        <p:nvSpPr>
          <p:cNvPr id="5" name="Text Box 4"/>
          <p:cNvSpPr txBox="1"/>
          <p:nvPr/>
        </p:nvSpPr>
        <p:spPr>
          <a:xfrm>
            <a:off x="7289800" y="4681220"/>
            <a:ext cx="4064000" cy="645160"/>
          </a:xfrm>
          <a:prstGeom prst="rect">
            <a:avLst/>
          </a:prstGeom>
          <a:noFill/>
        </p:spPr>
        <p:txBody>
          <a:bodyPr wrap="square" rtlCol="0">
            <a:spAutoFit/>
          </a:bodyPr>
          <a:p>
            <a:pPr marL="285750" indent="-285750">
              <a:buFont typeface="Wingdings" panose="05000000000000000000" charset="0"/>
              <a:buChar char=""/>
            </a:pPr>
            <a:r>
              <a:rPr lang="en-US"/>
              <a:t>Spectral data</a:t>
            </a:r>
            <a:endParaRPr lang="en-US"/>
          </a:p>
          <a:p>
            <a:pPr marL="285750" indent="-285750">
              <a:buFont typeface="Wingdings" panose="05000000000000000000" charset="0"/>
              <a:buChar char=""/>
            </a:pPr>
            <a:r>
              <a:rPr lang="en-US"/>
              <a:t>others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86180"/>
          </a:xfrm>
        </p:spPr>
        <p:txBody>
          <a:bodyPr/>
          <a:p>
            <a:r>
              <a:rPr lang="en-US"/>
              <a:t>Feature Engineering</a:t>
            </a:r>
            <a:endParaRPr lang="en-US"/>
          </a:p>
        </p:txBody>
      </p:sp>
      <p:sp>
        <p:nvSpPr>
          <p:cNvPr id="3" name="Content Placeholder 2"/>
          <p:cNvSpPr>
            <a:spLocks noGrp="1"/>
          </p:cNvSpPr>
          <p:nvPr>
            <p:ph idx="1"/>
          </p:nvPr>
        </p:nvSpPr>
        <p:spPr>
          <a:xfrm>
            <a:off x="838200" y="1550670"/>
            <a:ext cx="10515600" cy="4626610"/>
          </a:xfrm>
        </p:spPr>
        <p:txBody>
          <a:bodyPr/>
          <a:p>
            <a:pPr>
              <a:buFont typeface="Wingdings" panose="05000000000000000000" charset="0"/>
              <a:buChar char=""/>
            </a:pPr>
            <a:r>
              <a:rPr lang="en-US"/>
              <a:t> The process of using domain knowledge to select, extract, transform and create features or descriptors from raw data to improve the performance of ML model.</a:t>
            </a:r>
            <a:endParaRPr lang="en-US"/>
          </a:p>
        </p:txBody>
      </p:sp>
      <p:pic>
        <p:nvPicPr>
          <p:cNvPr id="4" name="Picture 3" descr="fullsizeoutput_2c"/>
          <p:cNvPicPr>
            <a:picLocks noChangeAspect="1"/>
          </p:cNvPicPr>
          <p:nvPr/>
        </p:nvPicPr>
        <p:blipFill>
          <a:blip r:embed="rId1"/>
          <a:srcRect t="10426"/>
          <a:stretch>
            <a:fillRect/>
          </a:stretch>
        </p:blipFill>
        <p:spPr>
          <a:xfrm>
            <a:off x="837565" y="2868930"/>
            <a:ext cx="10625455" cy="3895725"/>
          </a:xfrm>
          <a:prstGeom prst="rect">
            <a:avLst/>
          </a:prstGeom>
        </p:spPr>
      </p:pic>
      <p:sp>
        <p:nvSpPr>
          <p:cNvPr id="5" name="Text Box 4"/>
          <p:cNvSpPr txBox="1"/>
          <p:nvPr/>
        </p:nvSpPr>
        <p:spPr>
          <a:xfrm>
            <a:off x="2551430" y="6461760"/>
            <a:ext cx="4934585" cy="353695"/>
          </a:xfrm>
          <a:prstGeom prst="rect">
            <a:avLst/>
          </a:prstGeom>
          <a:noFill/>
        </p:spPr>
        <p:txBody>
          <a:bodyPr wrap="square" rtlCol="0">
            <a:noAutofit/>
          </a:bodyPr>
          <a:p>
            <a:r>
              <a:rPr lang="en-US" sz="2000" b="1"/>
              <a:t>Tools: RDkit, Matminer, ASE,etc. </a:t>
            </a:r>
            <a:endParaRPr lang="en-US" sz="2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Supervised Machine Learning for Chemical prediction</a:t>
            </a:r>
            <a:endParaRPr lang="en-US"/>
          </a:p>
        </p:txBody>
      </p:sp>
      <p:sp>
        <p:nvSpPr>
          <p:cNvPr id="3" name="Content Placeholder 2"/>
          <p:cNvSpPr>
            <a:spLocks noGrp="1"/>
          </p:cNvSpPr>
          <p:nvPr>
            <p:ph idx="1"/>
          </p:nvPr>
        </p:nvSpPr>
        <p:spPr/>
        <p:txBody>
          <a:bodyPr/>
          <a:p>
            <a:r>
              <a:rPr lang="en-US"/>
              <a:t> Algorithms learns from chemical data with known outcomes</a:t>
            </a:r>
            <a:endParaRPr lang="en-US"/>
          </a:p>
          <a:p>
            <a:r>
              <a:rPr lang="en-US"/>
              <a:t> Used for property prediction and classification</a:t>
            </a:r>
            <a:endParaRPr lang="en-US"/>
          </a:p>
          <a:p>
            <a:r>
              <a:rPr lang="en-US"/>
              <a:t> The outcome could be:</a:t>
            </a:r>
            <a:endParaRPr lang="en-US"/>
          </a:p>
          <a:p>
            <a:pPr lvl="1">
              <a:buFont typeface="Wingdings" panose="05000000000000000000" charset="0"/>
              <a:buChar char=""/>
            </a:pPr>
            <a:r>
              <a:rPr lang="en-US"/>
              <a:t> Continuous value (Regression):</a:t>
            </a:r>
            <a:endParaRPr lang="en-US"/>
          </a:p>
          <a:p>
            <a:pPr marL="457200" lvl="1" indent="0">
              <a:buFont typeface="Wingdings" panose="05000000000000000000" charset="0"/>
              <a:buNone/>
            </a:pPr>
            <a:r>
              <a:rPr lang="en-US"/>
              <a:t>          </a:t>
            </a:r>
            <a:r>
              <a:rPr lang="en-US">
                <a:sym typeface="+mn-ea"/>
              </a:rPr>
              <a:t>Example: adsorption energy, formation energy, solubility</a:t>
            </a:r>
            <a:r>
              <a:rPr lang="en-US"/>
              <a:t> </a:t>
            </a:r>
            <a:endParaRPr lang="en-US"/>
          </a:p>
          <a:p>
            <a:pPr marL="0" indent="0">
              <a:buNone/>
            </a:pPr>
            <a:endParaRPr lang="en-US"/>
          </a:p>
          <a:p>
            <a:pPr lvl="1">
              <a:buFont typeface="Wingdings" panose="05000000000000000000" charset="0"/>
              <a:buChar char=""/>
            </a:pPr>
            <a:r>
              <a:rPr lang="en-US"/>
              <a:t> Categorical (Classification):</a:t>
            </a:r>
            <a:endParaRPr lang="en-US"/>
          </a:p>
          <a:p>
            <a:pPr marL="457200" lvl="1" indent="0">
              <a:buFont typeface="Wingdings" panose="05000000000000000000" charset="0"/>
              <a:buNone/>
            </a:pPr>
            <a:r>
              <a:rPr lang="en-US"/>
              <a:t>           Example: toxic or non-toxic, acidic or basic, active or inactive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Supervised machine learning for chemical prediction</a:t>
            </a:r>
            <a:endParaRPr lang="en-US"/>
          </a:p>
        </p:txBody>
      </p:sp>
      <p:pic>
        <p:nvPicPr>
          <p:cNvPr id="4" name="Content Placeholder 3" descr="fullsizeoutput_2e"/>
          <p:cNvPicPr>
            <a:picLocks noChangeAspect="1"/>
          </p:cNvPicPr>
          <p:nvPr>
            <p:ph idx="1"/>
          </p:nvPr>
        </p:nvPicPr>
        <p:blipFill>
          <a:blip r:embed="rId1"/>
          <a:srcRect l="1231" t="1897" r="1237"/>
          <a:stretch>
            <a:fillRect/>
          </a:stretch>
        </p:blipFill>
        <p:spPr>
          <a:xfrm>
            <a:off x="629285" y="1866265"/>
            <a:ext cx="10963275" cy="4699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70305"/>
          </a:xfrm>
        </p:spPr>
        <p:txBody>
          <a:bodyPr/>
          <a:p>
            <a:r>
              <a:rPr lang="en-US"/>
              <a:t>Summary of model training</a:t>
            </a:r>
            <a:endParaRPr lang="en-US"/>
          </a:p>
        </p:txBody>
      </p:sp>
      <p:pic>
        <p:nvPicPr>
          <p:cNvPr id="4" name="Content Placeholder 3" descr="IMG_7835"/>
          <p:cNvPicPr>
            <a:picLocks noChangeAspect="1"/>
          </p:cNvPicPr>
          <p:nvPr>
            <p:ph idx="1"/>
          </p:nvPr>
        </p:nvPicPr>
        <p:blipFill>
          <a:blip r:embed="rId1"/>
          <a:stretch>
            <a:fillRect/>
          </a:stretch>
        </p:blipFill>
        <p:spPr>
          <a:xfrm>
            <a:off x="838200" y="1535430"/>
            <a:ext cx="10299065" cy="5092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Regression and classification algorithms</a:t>
            </a:r>
            <a:endParaRPr lang="en-US"/>
          </a:p>
        </p:txBody>
      </p:sp>
      <p:sp>
        <p:nvSpPr>
          <p:cNvPr id="3" name="Content Placeholder 2"/>
          <p:cNvSpPr>
            <a:spLocks noGrp="1"/>
          </p:cNvSpPr>
          <p:nvPr>
            <p:ph idx="1"/>
          </p:nvPr>
        </p:nvSpPr>
        <p:spPr>
          <a:xfrm>
            <a:off x="838200" y="1691005"/>
            <a:ext cx="9848850" cy="4351655"/>
          </a:xfrm>
        </p:spPr>
        <p:txBody>
          <a:bodyPr>
            <a:normAutofit lnSpcReduction="10000"/>
          </a:bodyPr>
          <a:p>
            <a:r>
              <a:rPr lang="en-US"/>
              <a:t> Both are supervised ML techniques used in prediction</a:t>
            </a:r>
            <a:endParaRPr lang="en-US"/>
          </a:p>
          <a:p>
            <a:pPr marL="0" indent="0">
              <a:buNone/>
            </a:pPr>
            <a:endParaRPr lang="en-US"/>
          </a:p>
          <a:p>
            <a:pPr marL="0" indent="0">
              <a:buNone/>
            </a:pPr>
            <a:r>
              <a:rPr lang="en-US" b="1"/>
              <a:t>Regression</a:t>
            </a:r>
            <a:endParaRPr lang="en-US"/>
          </a:p>
          <a:p>
            <a:pPr lvl="1">
              <a:buFont typeface="Wingdings" panose="05000000000000000000" charset="0"/>
              <a:buChar char=""/>
            </a:pPr>
            <a:r>
              <a:rPr lang="en-US"/>
              <a:t> Regression fines the best line of fit to minimize error.</a:t>
            </a:r>
            <a:endParaRPr lang="en-US"/>
          </a:p>
          <a:p>
            <a:pPr lvl="1">
              <a:buFont typeface="Wingdings" panose="05000000000000000000" charset="0"/>
              <a:buChar char=""/>
            </a:pPr>
            <a:r>
              <a:rPr lang="en-US"/>
              <a:t> It is use to predict continuous value based on input data</a:t>
            </a:r>
            <a:endParaRPr lang="en-US"/>
          </a:p>
          <a:p>
            <a:pPr marL="457200" lvl="1" indent="0">
              <a:buFont typeface="Wingdings" panose="05000000000000000000" charset="0"/>
              <a:buNone/>
            </a:pPr>
            <a:endParaRPr lang="en-US"/>
          </a:p>
          <a:p>
            <a:pPr marL="0" lvl="0" indent="0">
              <a:buFont typeface="Wingdings" panose="05000000000000000000" charset="0"/>
              <a:buNone/>
            </a:pPr>
            <a:r>
              <a:rPr lang="en-US" b="1"/>
              <a:t>Classification</a:t>
            </a:r>
            <a:endParaRPr lang="en-US" b="1"/>
          </a:p>
          <a:p>
            <a:pPr lvl="1">
              <a:buFont typeface="Wingdings" panose="05000000000000000000" charset="0"/>
              <a:buChar char=""/>
            </a:pPr>
            <a:r>
              <a:rPr lang="en-US" b="1"/>
              <a:t> </a:t>
            </a:r>
            <a:r>
              <a:rPr lang="en-US"/>
              <a:t>classification algorithms categories data using decision   boundary to minimize classification errors</a:t>
            </a:r>
            <a:endParaRPr lang="en-US"/>
          </a:p>
          <a:p>
            <a:pPr lvl="1">
              <a:buFont typeface="Wingdings" panose="05000000000000000000" charset="0"/>
              <a:buChar char=""/>
            </a:pPr>
            <a:r>
              <a:rPr lang="en-US"/>
              <a:t> It is use to classify data points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Regression and classification algorithms</a:t>
            </a:r>
            <a:endParaRPr lang="en-US"/>
          </a:p>
        </p:txBody>
      </p:sp>
      <p:pic>
        <p:nvPicPr>
          <p:cNvPr id="4" name="Content Placeholder 3" descr="IMG_7820"/>
          <p:cNvPicPr>
            <a:picLocks noChangeAspect="1"/>
          </p:cNvPicPr>
          <p:nvPr>
            <p:ph idx="1"/>
          </p:nvPr>
        </p:nvPicPr>
        <p:blipFill>
          <a:blip r:embed="rId1"/>
          <a:stretch>
            <a:fillRect/>
          </a:stretch>
        </p:blipFill>
        <p:spPr>
          <a:xfrm>
            <a:off x="838200" y="1825625"/>
            <a:ext cx="10516235" cy="43516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Regression</a:t>
            </a:r>
            <a:endParaRPr lang="en-US"/>
          </a:p>
        </p:txBody>
      </p:sp>
      <p:pic>
        <p:nvPicPr>
          <p:cNvPr id="4" name="Content Placeholder 3" descr="IMG_7827"/>
          <p:cNvPicPr>
            <a:picLocks noChangeAspect="1"/>
          </p:cNvPicPr>
          <p:nvPr>
            <p:ph idx="1"/>
          </p:nvPr>
        </p:nvPicPr>
        <p:blipFill>
          <a:blip r:embed="rId1"/>
          <a:stretch>
            <a:fillRect/>
          </a:stretch>
        </p:blipFill>
        <p:spPr>
          <a:xfrm>
            <a:off x="839470" y="1825625"/>
            <a:ext cx="10512425" cy="43516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Classification Algorithms</a:t>
            </a:r>
            <a:endParaRPr lang="en-US"/>
          </a:p>
        </p:txBody>
      </p:sp>
      <p:pic>
        <p:nvPicPr>
          <p:cNvPr id="4" name="Content Placeholder 3" descr="fullsizeoutput_2f"/>
          <p:cNvPicPr>
            <a:picLocks noChangeAspect="1"/>
          </p:cNvPicPr>
          <p:nvPr>
            <p:ph idx="1"/>
          </p:nvPr>
        </p:nvPicPr>
        <p:blipFill>
          <a:blip r:embed="rId1"/>
          <a:srcRect l="6165" t="4844" r="7470"/>
          <a:stretch>
            <a:fillRect/>
          </a:stretch>
        </p:blipFill>
        <p:spPr>
          <a:xfrm>
            <a:off x="737870" y="2239010"/>
            <a:ext cx="4213860" cy="3554730"/>
          </a:xfrm>
          <a:prstGeom prst="rect">
            <a:avLst/>
          </a:prstGeom>
        </p:spPr>
      </p:pic>
      <p:pic>
        <p:nvPicPr>
          <p:cNvPr id="5" name="Picture 4" descr="IMG_7830"/>
          <p:cNvPicPr>
            <a:picLocks noChangeAspect="1"/>
          </p:cNvPicPr>
          <p:nvPr/>
        </p:nvPicPr>
        <p:blipFill>
          <a:blip r:embed="rId2"/>
          <a:srcRect b="6642"/>
          <a:stretch>
            <a:fillRect/>
          </a:stretch>
        </p:blipFill>
        <p:spPr>
          <a:xfrm>
            <a:off x="4951730" y="2239010"/>
            <a:ext cx="6402070" cy="3554730"/>
          </a:xfrm>
          <a:prstGeom prst="rect">
            <a:avLst/>
          </a:prstGeom>
        </p:spPr>
      </p:pic>
      <p:sp>
        <p:nvSpPr>
          <p:cNvPr id="7" name="Text Box 6"/>
          <p:cNvSpPr txBox="1"/>
          <p:nvPr/>
        </p:nvSpPr>
        <p:spPr>
          <a:xfrm>
            <a:off x="1188720" y="1781175"/>
            <a:ext cx="4064000" cy="368300"/>
          </a:xfrm>
          <a:prstGeom prst="rect">
            <a:avLst/>
          </a:prstGeom>
          <a:noFill/>
        </p:spPr>
        <p:txBody>
          <a:bodyPr wrap="square" rtlCol="0">
            <a:spAutoFit/>
          </a:bodyPr>
          <a:p>
            <a:r>
              <a:rPr lang="en-US" b="1"/>
              <a:t>1. Decision Trees</a:t>
            </a:r>
            <a:endParaRPr lang="en-US" b="1"/>
          </a:p>
        </p:txBody>
      </p:sp>
      <p:sp>
        <p:nvSpPr>
          <p:cNvPr id="8" name="Text Box 7"/>
          <p:cNvSpPr txBox="1"/>
          <p:nvPr/>
        </p:nvSpPr>
        <p:spPr>
          <a:xfrm>
            <a:off x="6340475" y="1735455"/>
            <a:ext cx="4064000" cy="368300"/>
          </a:xfrm>
          <a:prstGeom prst="rect">
            <a:avLst/>
          </a:prstGeom>
          <a:noFill/>
        </p:spPr>
        <p:txBody>
          <a:bodyPr wrap="square" rtlCol="0">
            <a:spAutoFit/>
          </a:bodyPr>
          <a:p>
            <a:r>
              <a:rPr lang="en-US" b="1"/>
              <a:t>2. Random forest</a:t>
            </a:r>
            <a:endParaRPr 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Classification Algorithms</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6" name="Picture 5" descr="IMG_7831"/>
          <p:cNvPicPr>
            <a:picLocks noChangeAspect="1"/>
          </p:cNvPicPr>
          <p:nvPr/>
        </p:nvPicPr>
        <p:blipFill>
          <a:blip r:embed="rId1"/>
          <a:stretch>
            <a:fillRect/>
          </a:stretch>
        </p:blipFill>
        <p:spPr>
          <a:xfrm>
            <a:off x="838200" y="2011680"/>
            <a:ext cx="10515600" cy="4165600"/>
          </a:xfrm>
          <a:prstGeom prst="rect">
            <a:avLst/>
          </a:prstGeom>
        </p:spPr>
      </p:pic>
      <p:sp>
        <p:nvSpPr>
          <p:cNvPr id="4" name="Text Box 3"/>
          <p:cNvSpPr txBox="1"/>
          <p:nvPr/>
        </p:nvSpPr>
        <p:spPr>
          <a:xfrm>
            <a:off x="2743835" y="1601470"/>
            <a:ext cx="4064000" cy="398780"/>
          </a:xfrm>
          <a:prstGeom prst="rect">
            <a:avLst/>
          </a:prstGeom>
          <a:noFill/>
        </p:spPr>
        <p:txBody>
          <a:bodyPr wrap="square" rtlCol="0">
            <a:spAutoFit/>
          </a:bodyPr>
          <a:p>
            <a:r>
              <a:rPr lang="en-US" sz="2000" b="1"/>
              <a:t>3. Logistic Regression</a:t>
            </a:r>
            <a:endParaRPr lang="en-US" sz="20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Unsupervised learning and pattern recognition</a:t>
            </a:r>
            <a:endParaRPr lang="en-US"/>
          </a:p>
        </p:txBody>
      </p:sp>
      <p:sp>
        <p:nvSpPr>
          <p:cNvPr id="3" name="Content Placeholder 2"/>
          <p:cNvSpPr>
            <a:spLocks noGrp="1"/>
          </p:cNvSpPr>
          <p:nvPr>
            <p:ph sz="half" idx="1"/>
          </p:nvPr>
        </p:nvSpPr>
        <p:spPr/>
        <p:txBody>
          <a:bodyPr/>
          <a:p>
            <a:pPr>
              <a:buFont typeface="Wingdings" panose="05000000000000000000" charset="0"/>
              <a:buChar char=""/>
            </a:pPr>
            <a:r>
              <a:rPr lang="en-US"/>
              <a:t> No labels - model finds hidden patterns in data</a:t>
            </a:r>
            <a:endParaRPr lang="en-US"/>
          </a:p>
          <a:p>
            <a:pPr>
              <a:buFont typeface="Wingdings" panose="05000000000000000000" charset="0"/>
              <a:buChar char=""/>
            </a:pPr>
            <a:r>
              <a:rPr lang="en-US"/>
              <a:t> usually comes before supervised learning</a:t>
            </a:r>
            <a:endParaRPr lang="en-US"/>
          </a:p>
          <a:p>
            <a:pPr lvl="1">
              <a:buFont typeface="Arial" panose="020B0704020202020204" pitchFamily="34" charset="0"/>
              <a:buChar char="•"/>
            </a:pPr>
            <a:r>
              <a:rPr lang="en-US"/>
              <a:t> common methods include:</a:t>
            </a:r>
            <a:endParaRPr lang="en-US"/>
          </a:p>
          <a:p>
            <a:pPr marL="1371600" lvl="2" indent="-457200">
              <a:buFont typeface="Arial" panose="020B0704020202020204" pitchFamily="34" charset="0"/>
              <a:buAutoNum type="arabicPeriod"/>
            </a:pPr>
            <a:r>
              <a:rPr lang="en-US"/>
              <a:t>Clustering (K- means)</a:t>
            </a:r>
            <a:endParaRPr lang="en-US"/>
          </a:p>
          <a:p>
            <a:pPr marL="1371600" lvl="2" indent="-457200">
              <a:buFont typeface="Arial" panose="020B0704020202020204" pitchFamily="34" charset="0"/>
              <a:buAutoNum type="arabicPeriod"/>
            </a:pPr>
            <a:r>
              <a:rPr lang="en-US"/>
              <a:t>Dimentionality reduction (PCA)</a:t>
            </a:r>
            <a:endParaRPr lang="en-US"/>
          </a:p>
          <a:p>
            <a:pPr lvl="1"/>
            <a:r>
              <a:rPr lang="en-US"/>
              <a:t>Used for:</a:t>
            </a:r>
            <a:endParaRPr lang="en-US"/>
          </a:p>
          <a:p>
            <a:pPr marL="1371600" lvl="2" indent="-457200">
              <a:buAutoNum type="arabicPeriod"/>
            </a:pPr>
            <a:r>
              <a:rPr lang="en-US"/>
              <a:t>Grouping similar compounds</a:t>
            </a:r>
            <a:endParaRPr lang="en-US"/>
          </a:p>
          <a:p>
            <a:pPr marL="1371600" lvl="2" indent="-457200">
              <a:buAutoNum type="arabicPeriod"/>
            </a:pPr>
            <a:r>
              <a:rPr lang="en-US"/>
              <a:t>Detecting anomalies in chemical space</a:t>
            </a:r>
            <a:endParaRPr lang="en-US"/>
          </a:p>
        </p:txBody>
      </p:sp>
      <p:sp>
        <p:nvSpPr>
          <p:cNvPr id="5" name="Content Placeholder 4"/>
          <p:cNvSpPr>
            <a:spLocks noGrp="1"/>
          </p:cNvSpPr>
          <p:nvPr>
            <p:ph sz="half" idx="2"/>
          </p:nvPr>
        </p:nvSpPr>
        <p:spPr/>
        <p:txBody>
          <a:bodyPr/>
          <a:p>
            <a:pPr marL="0" indent="0">
              <a:buNone/>
            </a:pPr>
            <a:r>
              <a:rPr lang="en-US"/>
              <a:t> </a:t>
            </a:r>
            <a:endParaRPr lang="en-US"/>
          </a:p>
        </p:txBody>
      </p:sp>
      <p:pic>
        <p:nvPicPr>
          <p:cNvPr id="4" name="Picture 3" descr="IMG_7832"/>
          <p:cNvPicPr>
            <a:picLocks noChangeAspect="1"/>
          </p:cNvPicPr>
          <p:nvPr/>
        </p:nvPicPr>
        <p:blipFill>
          <a:blip r:embed="rId1"/>
          <a:stretch>
            <a:fillRect/>
          </a:stretch>
        </p:blipFill>
        <p:spPr>
          <a:xfrm>
            <a:off x="6019165" y="1647825"/>
            <a:ext cx="5702935" cy="43522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Evaluation and Validation</a:t>
            </a:r>
            <a:endParaRPr lang="en-US"/>
          </a:p>
        </p:txBody>
      </p:sp>
      <p:pic>
        <p:nvPicPr>
          <p:cNvPr id="4" name="Content Placeholder 3" descr="IMG_7833"/>
          <p:cNvPicPr>
            <a:picLocks noChangeAspect="1"/>
          </p:cNvPicPr>
          <p:nvPr>
            <p:ph idx="1"/>
          </p:nvPr>
        </p:nvPicPr>
        <p:blipFill>
          <a:blip r:embed="rId1"/>
          <a:stretch>
            <a:fillRect/>
          </a:stretch>
        </p:blipFill>
        <p:spPr>
          <a:xfrm>
            <a:off x="680720" y="2155825"/>
            <a:ext cx="4390390" cy="4114800"/>
          </a:xfrm>
          <a:prstGeom prst="rect">
            <a:avLst/>
          </a:prstGeom>
        </p:spPr>
      </p:pic>
      <p:pic>
        <p:nvPicPr>
          <p:cNvPr id="5" name="Picture 4" descr="IMG_7834"/>
          <p:cNvPicPr>
            <a:picLocks noChangeAspect="1"/>
          </p:cNvPicPr>
          <p:nvPr/>
        </p:nvPicPr>
        <p:blipFill>
          <a:blip r:embed="rId2"/>
          <a:stretch>
            <a:fillRect/>
          </a:stretch>
        </p:blipFill>
        <p:spPr>
          <a:xfrm>
            <a:off x="5414010" y="2156460"/>
            <a:ext cx="5314950" cy="3954780"/>
          </a:xfrm>
          <a:prstGeom prst="rect">
            <a:avLst/>
          </a:prstGeom>
        </p:spPr>
      </p:pic>
      <p:sp>
        <p:nvSpPr>
          <p:cNvPr id="6" name="Text Box 5"/>
          <p:cNvSpPr txBox="1"/>
          <p:nvPr/>
        </p:nvSpPr>
        <p:spPr>
          <a:xfrm>
            <a:off x="1350010" y="1595755"/>
            <a:ext cx="4064000" cy="398780"/>
          </a:xfrm>
          <a:prstGeom prst="rect">
            <a:avLst/>
          </a:prstGeom>
          <a:noFill/>
        </p:spPr>
        <p:txBody>
          <a:bodyPr wrap="square" rtlCol="0">
            <a:spAutoFit/>
          </a:bodyPr>
          <a:p>
            <a:r>
              <a:rPr lang="en-US" sz="2000" b="1"/>
              <a:t>Regression evaluation metrics</a:t>
            </a:r>
            <a:endParaRPr lang="en-US" sz="2000" b="1"/>
          </a:p>
        </p:txBody>
      </p:sp>
      <p:sp>
        <p:nvSpPr>
          <p:cNvPr id="7" name="Text Box 6"/>
          <p:cNvSpPr txBox="1"/>
          <p:nvPr/>
        </p:nvSpPr>
        <p:spPr>
          <a:xfrm>
            <a:off x="6039485" y="1595755"/>
            <a:ext cx="4389755" cy="398780"/>
          </a:xfrm>
          <a:prstGeom prst="rect">
            <a:avLst/>
          </a:prstGeom>
          <a:noFill/>
        </p:spPr>
        <p:txBody>
          <a:bodyPr wrap="square" rtlCol="0">
            <a:spAutoFit/>
          </a:bodyPr>
          <a:p>
            <a:r>
              <a:rPr lang="en-US" sz="2000" b="1"/>
              <a:t>Classification evaluation metrics</a:t>
            </a:r>
            <a:endParaRPr lang="en-US" sz="20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Model Evaluation and Validation</a:t>
            </a:r>
            <a:endParaRPr lang="en-US"/>
          </a:p>
        </p:txBody>
      </p:sp>
      <p:sp>
        <p:nvSpPr>
          <p:cNvPr id="3" name="Content Placeholder 2"/>
          <p:cNvSpPr>
            <a:spLocks noGrp="1"/>
          </p:cNvSpPr>
          <p:nvPr>
            <p:ph idx="1"/>
          </p:nvPr>
        </p:nvSpPr>
        <p:spPr/>
        <p:txBody>
          <a:bodyPr/>
          <a:p>
            <a:pPr>
              <a:buFont typeface="Wingdings" panose="05000000000000000000" charset="0"/>
              <a:buChar char=""/>
            </a:pPr>
            <a:r>
              <a:rPr lang="en-US"/>
              <a:t> The purpose of validation is to ensure our trained model generalizes well on new unseen data</a:t>
            </a:r>
            <a:endParaRPr lang="en-US"/>
          </a:p>
          <a:p>
            <a:pPr>
              <a:buFont typeface="Wingdings" panose="05000000000000000000" charset="0"/>
              <a:buChar char=""/>
            </a:pPr>
            <a:r>
              <a:rPr lang="en-US"/>
              <a:t> To prevent overfitting and underfiting</a:t>
            </a:r>
            <a:endParaRPr lang="en-US"/>
          </a:p>
          <a:p>
            <a:pPr>
              <a:buFont typeface="Wingdings" panose="05000000000000000000" charset="0"/>
              <a:buChar char=""/>
            </a:pPr>
            <a:r>
              <a:rPr lang="en-US"/>
              <a:t> The most common cross-validation method is:</a:t>
            </a:r>
            <a:endParaRPr lang="en-US"/>
          </a:p>
          <a:p>
            <a:pPr marL="457200" lvl="1" indent="0">
              <a:buFont typeface="Wingdings" panose="05000000000000000000" charset="0"/>
              <a:buNone/>
            </a:pPr>
            <a:r>
              <a:rPr lang="en-US"/>
              <a:t>K-Fold cross-validation</a:t>
            </a:r>
            <a:endParaRPr lang="en-US"/>
          </a:p>
          <a:p>
            <a:pPr marL="1371600" lvl="2" indent="-457200">
              <a:buFont typeface="Wingdings" panose="05000000000000000000" charset="0"/>
              <a:buAutoNum type="arabicPeriod"/>
            </a:pPr>
            <a:r>
              <a:rPr lang="en-US"/>
              <a:t>Divide the data into k equal folds.</a:t>
            </a:r>
            <a:endParaRPr lang="en-US"/>
          </a:p>
          <a:p>
            <a:pPr marL="1371600" lvl="2" indent="-457200">
              <a:buFont typeface="Wingdings" panose="05000000000000000000" charset="0"/>
              <a:buAutoNum type="arabicPeriod"/>
            </a:pPr>
            <a:r>
              <a:rPr lang="en-US"/>
              <a:t>Train the model on (k-1) folds.</a:t>
            </a:r>
            <a:endParaRPr lang="en-US"/>
          </a:p>
          <a:p>
            <a:pPr marL="1371600" lvl="2" indent="-457200">
              <a:buFont typeface="Wingdings" panose="05000000000000000000" charset="0"/>
              <a:buAutoNum type="arabicPeriod"/>
            </a:pPr>
            <a:r>
              <a:rPr lang="en-US"/>
              <a:t>Test on the remaining fold</a:t>
            </a:r>
            <a:endParaRPr lang="en-US"/>
          </a:p>
          <a:p>
            <a:pPr marL="1371600" lvl="2" indent="-457200">
              <a:buFont typeface="Wingdings" panose="05000000000000000000" charset="0"/>
              <a:buAutoNum type="arabicPeriod"/>
            </a:pPr>
            <a:r>
              <a:rPr lang="en-US"/>
              <a:t>Repeat k times, each time with different test fold</a:t>
            </a:r>
            <a:endParaRPr lang="en-US"/>
          </a:p>
          <a:p>
            <a:pPr marL="1371600" lvl="2" indent="-457200">
              <a:buFont typeface="Wingdings" panose="05000000000000000000" charset="0"/>
              <a:buAutoNum type="arabicPeriod"/>
            </a:pPr>
            <a:r>
              <a:rPr lang="en-US"/>
              <a:t>Take the average performance across all folds</a:t>
            </a:r>
            <a:endParaRPr lang="en-US"/>
          </a:p>
          <a:p>
            <a:pPr marL="457200" lvl="1" indent="0">
              <a:buFont typeface="Wingdings" panose="05000000000000000000" charset="0"/>
              <a:buNone/>
            </a:pP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Application in computational chemistry</a:t>
            </a:r>
            <a:endParaRPr lang="en-US"/>
          </a:p>
        </p:txBody>
      </p:sp>
      <p:sp>
        <p:nvSpPr>
          <p:cNvPr id="5" name="Content Placeholder 4"/>
          <p:cNvSpPr/>
          <p:nvPr>
            <p:ph idx="1"/>
          </p:nvPr>
        </p:nvSpPr>
        <p:spPr/>
        <p:txBody>
          <a:bodyPr/>
          <a:p>
            <a:pPr>
              <a:buFont typeface="Wingdings" panose="05000000000000000000" charset="0"/>
              <a:buChar char=""/>
            </a:pPr>
            <a:r>
              <a:rPr lang="en-US"/>
              <a:t> Property Prediction</a:t>
            </a:r>
            <a:endParaRPr lang="en-US"/>
          </a:p>
          <a:p>
            <a:pPr>
              <a:buFont typeface="Wingdings" panose="05000000000000000000" charset="0"/>
              <a:buChar char=""/>
            </a:pPr>
            <a:r>
              <a:rPr lang="en-US"/>
              <a:t> Accelerating QC calculations:</a:t>
            </a:r>
            <a:endParaRPr lang="en-US"/>
          </a:p>
          <a:p>
            <a:pPr marL="457200" lvl="1" indent="0">
              <a:buFont typeface="Wingdings" panose="05000000000000000000" charset="0"/>
              <a:buNone/>
            </a:pPr>
            <a:r>
              <a:rPr lang="en-US"/>
              <a:t>Example; Delta-learning</a:t>
            </a:r>
            <a:endParaRPr lang="en-US"/>
          </a:p>
          <a:p>
            <a:pPr lvl="0">
              <a:buFont typeface="Wingdings" panose="05000000000000000000" charset="0"/>
              <a:buChar char=""/>
            </a:pPr>
            <a:r>
              <a:rPr lang="en-US"/>
              <a:t> Molecular and Material design: Google AlphaFold 3</a:t>
            </a:r>
            <a:endParaRPr lang="en-US"/>
          </a:p>
          <a:p>
            <a:pPr lvl="0">
              <a:buFont typeface="Wingdings" panose="05000000000000000000" charset="0"/>
              <a:buChar char=""/>
            </a:pPr>
            <a:r>
              <a:rPr lang="en-US"/>
              <a:t> Faster screening</a:t>
            </a:r>
            <a:endParaRPr lang="en-US"/>
          </a:p>
          <a:p>
            <a:pPr lvl="0">
              <a:buFont typeface="Wingdings" panose="05000000000000000000" charset="0"/>
              <a:buChar char=""/>
            </a:pPr>
            <a:r>
              <a:rPr lang="en-US"/>
              <a:t> Reaction prediction</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Application in computational chemistry</a:t>
            </a:r>
            <a:endParaRPr lang="en-US"/>
          </a:p>
        </p:txBody>
      </p:sp>
      <p:pic>
        <p:nvPicPr>
          <p:cNvPr id="4" name="Content Placeholder 3" descr="fullsizeoutput_2d"/>
          <p:cNvPicPr>
            <a:picLocks noChangeAspect="1"/>
          </p:cNvPicPr>
          <p:nvPr>
            <p:ph idx="1"/>
          </p:nvPr>
        </p:nvPicPr>
        <p:blipFill>
          <a:blip r:embed="rId1"/>
          <a:stretch>
            <a:fillRect/>
          </a:stretch>
        </p:blipFill>
        <p:spPr>
          <a:xfrm>
            <a:off x="1156970" y="1691005"/>
            <a:ext cx="9907270" cy="4921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Application in computational chemistry</a:t>
            </a:r>
            <a:endParaRPr lang="en-US"/>
          </a:p>
        </p:txBody>
      </p:sp>
      <p:sp>
        <p:nvSpPr>
          <p:cNvPr id="3" name="Content Placeholder 2"/>
          <p:cNvSpPr>
            <a:spLocks noGrp="1"/>
          </p:cNvSpPr>
          <p:nvPr>
            <p:ph idx="1"/>
          </p:nvPr>
        </p:nvSpPr>
        <p:spPr/>
        <p:txBody>
          <a:bodyPr/>
          <a:p>
            <a:pPr>
              <a:buFont typeface="Wingdings" panose="05000000000000000000" charset="0"/>
              <a:buChar char=""/>
            </a:pPr>
            <a:r>
              <a:rPr lang="en-US"/>
              <a:t> Sample project:</a:t>
            </a:r>
            <a:endParaRPr lang="en-US"/>
          </a:p>
          <a:p>
            <a:pPr marL="0" indent="0" algn="ctr">
              <a:buFont typeface="Wingdings" panose="05000000000000000000" charset="0"/>
              <a:buNone/>
            </a:pPr>
            <a:r>
              <a:rPr lang="en-US"/>
              <a:t>           </a:t>
            </a:r>
            <a:r>
              <a:rPr lang="en-US" b="1">
                <a:latin typeface="Times New Roman Bold" panose="02020803070505020304" charset="0"/>
                <a:cs typeface="Times New Roman Bold" panose="02020803070505020304" charset="0"/>
                <a:sym typeface="+mn-ea"/>
              </a:rPr>
              <a:t>Predicting the Fermi Level of Transition Metal-Doped Iron Surfaces Using Machine Learning.</a:t>
            </a:r>
            <a:endParaRPr lang="en-US" b="1">
              <a:latin typeface="Times New Roman Bold" panose="02020803070505020304" charset="0"/>
              <a:cs typeface="Times New Roman Bold" panose="02020803070505020304" charset="0"/>
            </a:endParaRPr>
          </a:p>
          <a:p>
            <a:pPr marL="0" indent="0">
              <a:buFont typeface="Wingdings" panose="05000000000000000000" charset="0"/>
              <a:buNone/>
            </a:pPr>
            <a:endParaRPr lang="en-US"/>
          </a:p>
          <a:p>
            <a:pPr marL="0" indent="0">
              <a:buFont typeface="Wingdings" panose="05000000000000000000" charset="0"/>
              <a:buNone/>
            </a:pPr>
            <a:r>
              <a:rPr lang="en-US"/>
              <a:t>next slides....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0" y="365125"/>
            <a:ext cx="10515600" cy="1325880"/>
          </a:xfrm>
        </p:spPr>
        <p:txBody>
          <a:bodyPr/>
          <a:p>
            <a:r>
              <a:rPr lang="en-US"/>
              <a:t> </a:t>
            </a:r>
            <a:endParaRPr lang="en-US"/>
          </a:p>
        </p:txBody>
      </p:sp>
      <p:sp>
        <p:nvSpPr>
          <p:cNvPr id="4" name="Text Box 3"/>
          <p:cNvSpPr txBox="1"/>
          <p:nvPr/>
        </p:nvSpPr>
        <p:spPr>
          <a:xfrm>
            <a:off x="4578985" y="3187700"/>
            <a:ext cx="4064000" cy="583565"/>
          </a:xfrm>
          <a:prstGeom prst="rect">
            <a:avLst/>
          </a:prstGeom>
          <a:noFill/>
        </p:spPr>
        <p:txBody>
          <a:bodyPr wrap="square" rtlCol="0">
            <a:spAutoFit/>
          </a:bodyPr>
          <a:p>
            <a:r>
              <a:rPr lang="en-US" sz="3200">
                <a:solidFill>
                  <a:srgbClr val="0070C0"/>
                </a:solidFill>
              </a:rPr>
              <a:t>Coding session....</a:t>
            </a:r>
            <a:endParaRPr lang="en-US" sz="3200">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3684</Words>
  <Application>WPS Presentation</Application>
  <PresentationFormat>Widescreen</PresentationFormat>
  <Paragraphs>173</Paragraphs>
  <Slides>24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Arial</vt:lpstr>
      <vt:lpstr>SimSun</vt:lpstr>
      <vt:lpstr>Wingdings</vt:lpstr>
      <vt:lpstr>Times New Roman Regular</vt:lpstr>
      <vt:lpstr>Wingdings</vt:lpstr>
      <vt:lpstr>Times New Roman Bold</vt:lpstr>
      <vt:lpstr>Calibri Light</vt:lpstr>
      <vt:lpstr>Helvetica Neue</vt:lpstr>
      <vt:lpstr>Calibri</vt:lpstr>
      <vt:lpstr>Microsoft YaHei</vt:lpstr>
      <vt:lpstr>汉仪旗黑</vt:lpstr>
      <vt:lpstr>Arial Unicode MS</vt:lpstr>
      <vt:lpstr>汉仪书宋二KW</vt:lpstr>
      <vt:lpstr>Office Theme</vt:lpstr>
      <vt:lpstr>Machine Learning for chemical and Engineering Sciences</vt:lpstr>
      <vt:lpstr> What is Machine Learning?</vt:lpstr>
      <vt:lpstr>What is machine learning?</vt:lpstr>
      <vt:lpstr>How Does machines learn?</vt:lpstr>
      <vt:lpstr>Main types of machine learning</vt:lpstr>
      <vt:lpstr>Why ML is relevant in Chemistry?</vt:lpstr>
      <vt:lpstr>Data representation</vt:lpstr>
      <vt:lpstr>Data representation</vt:lpstr>
      <vt:lpstr>Feature Engineering</vt:lpstr>
      <vt:lpstr>Supervised Machine Learning for Chemical prediction</vt:lpstr>
      <vt:lpstr>PowerPoint 演示文稿</vt:lpstr>
      <vt:lpstr>PowerPoint 演示文稿</vt:lpstr>
      <vt:lpstr>Regression and classification algorithms</vt:lpstr>
      <vt:lpstr>PowerPoint 演示文稿</vt:lpstr>
      <vt:lpstr>PowerPoint 演示文稿</vt:lpstr>
      <vt:lpstr>PowerPoint 演示文稿</vt:lpstr>
      <vt:lpstr>PowerPoint 演示文稿</vt:lpstr>
      <vt:lpstr>Unsupervised learning and pattern recognition</vt:lpstr>
      <vt:lpstr>Model Evaluation and  Validation</vt:lpstr>
      <vt:lpstr>PowerPoint 演示文稿</vt:lpstr>
      <vt:lpstr>Application in computational chemistry</vt:lpstr>
      <vt:lpstr>Application in computational chemistry</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chemical and Engineering Sciences</dc:title>
  <dc:creator>mac</dc:creator>
  <cp:lastModifiedBy>Nat Yakubu</cp:lastModifiedBy>
  <cp:revision>18</cp:revision>
  <dcterms:created xsi:type="dcterms:W3CDTF">2025-10-15T20:20:41Z</dcterms:created>
  <dcterms:modified xsi:type="dcterms:W3CDTF">2025-10-15T20:20:41Z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DFAF5AFEF17FE9B8769FED680EF8E45C_41</vt:lpwstr>
  </property>
  <property fmtid="{D5CDD505-2E9C-101B-9397-08002B2CF9AE}" pid="3" name="KSOProductBuildVer">
    <vt:lpwstr>1033-12.1.21937.21937</vt:lpwstr>
  </property>
</Properties>
</file>